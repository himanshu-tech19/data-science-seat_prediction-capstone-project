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420491"/>
          </a:xfrm>
        </p:spPr>
        <p:txBody>
          <a:bodyPr numCol="1"/>
          <a:lstStyle/>
          <a:p>
            <a:pPr algn="ctr"/>
            <a:r>
              <a:rPr lang="en-IN" dirty="0"/>
              <a:t>Data Science Major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3940935"/>
            <a:ext cx="7766936" cy="1206797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Transport Demand Prediction</a:t>
            </a:r>
          </a:p>
        </p:txBody>
      </p:sp>
    </p:spTree>
    <p:extLst>
      <p:ext uri="{BB962C8B-B14F-4D97-AF65-F5344CB8AC3E}">
        <p14:creationId xmlns:p14="http://schemas.microsoft.com/office/powerpoint/2010/main" val="12853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Objective: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The goal of this project is to predict </a:t>
            </a:r>
            <a:r>
              <a:rPr lang="en-GB" sz="2000" b="1" dirty="0"/>
              <a:t>how many seats will be sold per ride</a:t>
            </a:r>
            <a:r>
              <a:rPr lang="en-GB" sz="2000" dirty="0"/>
              <a:t> based on historical booking data</a:t>
            </a:r>
            <a:r>
              <a:rPr lang="en-GB" sz="2000" dirty="0" smtClean="0"/>
              <a:t>.</a:t>
            </a:r>
          </a:p>
          <a:p>
            <a:pPr>
              <a:buClr>
                <a:srgbClr val="90C226"/>
              </a:buClr>
            </a:pPr>
            <a:r>
              <a:rPr lang="en-GB" sz="20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Accurate </a:t>
            </a: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demand prediction helps</a:t>
            </a:r>
            <a:r>
              <a:rPr lang="en-GB" sz="20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Allocate the right number of vehicles.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Avoid under-utilization or overbooking.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Improve customer satisfaction and increase revenue.</a:t>
            </a:r>
          </a:p>
          <a:p>
            <a:pPr marL="0" indent="0">
              <a:buNone/>
            </a:pPr>
            <a:endParaRPr lang="en-GB" sz="2000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378816" y="379411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4730" y="-32266"/>
            <a:ext cx="1758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68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Dataset: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677334" y="1564865"/>
            <a:ext cx="1113671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51,645 rows × 10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Columns: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ride_id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travel_date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travel_time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travel_from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travel_to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car_type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max_capacity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seat_number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Cleaning Steps: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duplicates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car_type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travel_date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datetime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format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Aggregated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seats sold per ride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a feature for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demand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(rides above 75th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</a:t>
            </a:r>
            <a:r>
              <a:rPr lang="en-IN" sz="2000" dirty="0" err="1" smtClean="0"/>
              <a:t>entile</a:t>
            </a:r>
            <a:r>
              <a:rPr lang="en-IN" sz="2000" dirty="0"/>
              <a:t>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5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18942"/>
            <a:ext cx="8596668" cy="1094704"/>
          </a:xfrm>
        </p:spPr>
        <p:txBody>
          <a:bodyPr/>
          <a:lstStyle/>
          <a:p>
            <a:r>
              <a:rPr lang="en-IN" dirty="0"/>
              <a:t>Feature Engineering: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12292" y="1267987"/>
            <a:ext cx="9235292" cy="4683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We generated several new features to improve prediction accuracy:</a:t>
            </a:r>
          </a:p>
          <a:p>
            <a:pPr lvl="0"/>
            <a:r>
              <a:rPr lang="en-IN" sz="2000" b="1" dirty="0"/>
              <a:t>Date-based features:</a:t>
            </a:r>
            <a:endParaRPr lang="en-IN" sz="2000" dirty="0"/>
          </a:p>
          <a:p>
            <a:pPr lvl="1"/>
            <a:r>
              <a:rPr lang="en-IN" sz="2000" dirty="0" err="1"/>
              <a:t>day_of_week</a:t>
            </a:r>
            <a:r>
              <a:rPr lang="en-IN" sz="2000" dirty="0"/>
              <a:t> (Monday, Tuesday, …)</a:t>
            </a:r>
          </a:p>
          <a:p>
            <a:pPr lvl="1"/>
            <a:r>
              <a:rPr lang="en-IN" sz="2000" dirty="0"/>
              <a:t>month (1-12)</a:t>
            </a:r>
          </a:p>
          <a:p>
            <a:pPr lvl="0"/>
            <a:r>
              <a:rPr lang="en-IN" sz="2000" b="1" dirty="0"/>
              <a:t>Time-based features:</a:t>
            </a:r>
            <a:endParaRPr lang="en-IN" sz="2000" dirty="0"/>
          </a:p>
          <a:p>
            <a:pPr lvl="1"/>
            <a:r>
              <a:rPr lang="en-IN" sz="2000" dirty="0"/>
              <a:t>hour (numeric hour extracted from </a:t>
            </a:r>
            <a:r>
              <a:rPr lang="en-IN" sz="2000" dirty="0" err="1"/>
              <a:t>travel_time</a:t>
            </a:r>
            <a:r>
              <a:rPr lang="en-IN" sz="2000" dirty="0"/>
              <a:t>)</a:t>
            </a:r>
          </a:p>
          <a:p>
            <a:pPr lvl="0"/>
            <a:r>
              <a:rPr lang="en-IN" sz="2000" b="1" dirty="0"/>
              <a:t>Categorical Encoding: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>Applied one-hot encoding to </a:t>
            </a:r>
            <a:r>
              <a:rPr lang="en-IN" sz="2000" dirty="0" err="1"/>
              <a:t>travel_from</a:t>
            </a:r>
            <a:r>
              <a:rPr lang="en-IN" sz="2000" dirty="0"/>
              <a:t>, </a:t>
            </a:r>
            <a:r>
              <a:rPr lang="en-IN" sz="2000" dirty="0" err="1"/>
              <a:t>car_type</a:t>
            </a:r>
            <a:r>
              <a:rPr lang="en-IN" sz="2000" dirty="0"/>
              <a:t>, and </a:t>
            </a:r>
            <a:r>
              <a:rPr lang="en-IN" sz="2000" dirty="0" err="1"/>
              <a:t>day_of_week</a:t>
            </a:r>
            <a:r>
              <a:rPr lang="en-IN" sz="2000" dirty="0"/>
              <a:t> to </a:t>
            </a:r>
            <a:r>
              <a:rPr lang="en-IN" sz="2000" dirty="0" smtClean="0"/>
              <a:t>convert </a:t>
            </a:r>
            <a:r>
              <a:rPr lang="en-IN" sz="2000" dirty="0"/>
              <a:t>categorical values into numeric form.</a:t>
            </a:r>
          </a:p>
          <a:p>
            <a:pPr lvl="0"/>
            <a:r>
              <a:rPr lang="en-IN" sz="2000" b="1" dirty="0"/>
              <a:t>Dropped columns: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>Removed </a:t>
            </a:r>
            <a:r>
              <a:rPr lang="en-IN" sz="2000" dirty="0" err="1"/>
              <a:t>ride_id</a:t>
            </a:r>
            <a:r>
              <a:rPr lang="en-IN" sz="2000" dirty="0"/>
              <a:t>, </a:t>
            </a:r>
            <a:r>
              <a:rPr lang="en-IN" sz="2000" dirty="0" err="1"/>
              <a:t>travel_date</a:t>
            </a:r>
            <a:r>
              <a:rPr lang="en-IN" sz="2000" dirty="0"/>
              <a:t>, </a:t>
            </a:r>
            <a:r>
              <a:rPr lang="en-IN" sz="2000" dirty="0" err="1"/>
              <a:t>travel_time</a:t>
            </a:r>
            <a:r>
              <a:rPr lang="en-IN" sz="2000" dirty="0"/>
              <a:t>, and </a:t>
            </a:r>
            <a:r>
              <a:rPr lang="en-IN" sz="2000" dirty="0" err="1"/>
              <a:t>travel_to</a:t>
            </a:r>
            <a:r>
              <a:rPr lang="en-IN" sz="2000" dirty="0"/>
              <a:t> (not directly useful for prediction).</a:t>
            </a:r>
          </a:p>
        </p:txBody>
      </p:sp>
    </p:spTree>
    <p:extLst>
      <p:ext uri="{BB962C8B-B14F-4D97-AF65-F5344CB8AC3E}">
        <p14:creationId xmlns:p14="http://schemas.microsoft.com/office/powerpoint/2010/main" val="383761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spcAft>
                <a:spcPts val="500"/>
              </a:spcAft>
              <a:tabLst>
                <a:tab pos="318770" algn="l"/>
              </a:tabLst>
            </a:pPr>
            <a:r>
              <a:rPr lang="en-IN" b="1" cap="small" spc="25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Data Visualization:</a:t>
            </a:r>
            <a:r>
              <a:rPr lang="en-IN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IN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4558" y="1930399"/>
            <a:ext cx="4745410" cy="3966817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328509" y="1616766"/>
            <a:ext cx="4184034" cy="456595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Observations:</a:t>
            </a:r>
            <a:endParaRPr lang="en-IN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Kisii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has the </a:t>
            </a:r>
            <a:r>
              <a:rPr lang="en-IN" sz="2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highest number of rides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significantly more than any other location (almost 3000 rides).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Rongo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Kijauri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follow, but their numbers are much lower than </a:t>
            </a:r>
            <a:r>
              <a:rPr lang="en-IN" sz="2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Kisii’s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moderately contributing locations include </a:t>
            </a: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Migori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Homa</a:t>
            </a:r>
            <a:r>
              <a:rPr lang="en-IN" sz="2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Bay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Keroka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Locations like </a:t>
            </a: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Keumbu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Sori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Mbita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Ndhiwa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IN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Oygis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have </a:t>
            </a:r>
            <a:r>
              <a:rPr lang="en-IN" sz="2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very few rides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487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149299" y="206062"/>
            <a:ext cx="1048435" cy="502274"/>
          </a:xfrm>
        </p:spPr>
        <p:txBody>
          <a:bodyPr>
            <a:normAutofit fontScale="90000"/>
          </a:bodyPr>
          <a:lstStyle/>
          <a:p>
            <a:pPr marL="342900" lvl="0" indent="-342900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</a:pPr>
            <a:r>
              <a:rPr lang="en-IN" sz="13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3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6520" y="3593206"/>
            <a:ext cx="7522477" cy="3657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Peak Hour is 7 AM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b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bar for 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7:00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much higher than all other hours, meaning a majority of rides are concentrated early in the morning.</a:t>
            </a:r>
            <a:b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indicates 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commuting or school/work rush hour demand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Moderate Demand in 5 AM, 6 AM, 8 AM, 10 AM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b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are smaller peaks around 5–6 AM and 8–10 AM, showing early-morning and late-morning trips.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Very Low Demand in Evening &amp; Late Night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b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19:00 (7 PM) has a small number of rides, and 23:00 (11 PM) &amp; 11:00 have the lowest.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0609" y="212503"/>
            <a:ext cx="8358388" cy="347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8439"/>
          </a:xfrm>
        </p:spPr>
        <p:txBody>
          <a:bodyPr>
            <a:normAutofit fontScale="90000"/>
          </a:bodyPr>
          <a:lstStyle/>
          <a:p>
            <a:pPr lvl="0">
              <a:spcBef>
                <a:spcPts val="1000"/>
              </a:spcBef>
              <a:buClr>
                <a:srgbClr val="90C226"/>
              </a:buClr>
              <a:buSzPct val="80000"/>
            </a:pPr>
            <a:r>
              <a:rPr lang="en-IN" sz="3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Model </a:t>
            </a:r>
            <a:r>
              <a:rPr lang="en-IN" sz="32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Used:</a:t>
            </a:r>
            <a:r>
              <a:rPr lang="en-IN" sz="32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Random</a:t>
            </a:r>
            <a:r>
              <a:rPr lang="en-IN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Forest </a:t>
            </a:r>
            <a:r>
              <a:rPr lang="en-IN" sz="32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Regressor</a:t>
            </a:r>
            <a:r>
              <a:rPr lang="en-IN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/>
            </a:r>
            <a:br>
              <a:rPr lang="en-IN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4101"/>
            <a:ext cx="8596668" cy="4919730"/>
          </a:xfrm>
        </p:spPr>
        <p:txBody>
          <a:bodyPr>
            <a:normAutofit fontScale="92500" lnSpcReduction="20000"/>
          </a:bodyPr>
          <a:lstStyle/>
          <a:p>
            <a:r>
              <a:rPr lang="en-GB" sz="1900" dirty="0"/>
              <a:t>Why Random Forest is the Best Model for Seat Demand </a:t>
            </a:r>
            <a:r>
              <a:rPr lang="en-GB" sz="1900" dirty="0" smtClean="0"/>
              <a:t>Prediction</a:t>
            </a:r>
          </a:p>
          <a:p>
            <a:r>
              <a:rPr lang="en-GB" sz="1900" b="1" dirty="0"/>
              <a:t>1. Handles Non-Linearity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dirty="0"/>
              <a:t>Seat demand is influenced by multiple factors (route, hour, day, month, car type).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dirty="0"/>
              <a:t>These relationships are </a:t>
            </a:r>
            <a:r>
              <a:rPr lang="en-GB" sz="1900" b="1" dirty="0"/>
              <a:t>not purely linear</a:t>
            </a:r>
            <a:r>
              <a:rPr lang="en-GB" sz="1900" dirty="0"/>
              <a:t> — for example: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900" dirty="0"/>
              <a:t>Demand might spike during specific hours (7 AM) or days (weekends).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900" dirty="0"/>
              <a:t>Some routes might always have high demand, regardless of other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 dirty="0"/>
              <a:t>Random Forest captures these nonlinear relationships</a:t>
            </a:r>
            <a:r>
              <a:rPr lang="en-GB" sz="1900" dirty="0"/>
              <a:t> much better than simple models like Linear Regression</a:t>
            </a:r>
            <a:r>
              <a:rPr lang="en-GB" sz="1900" dirty="0" smtClean="0"/>
              <a:t>.</a:t>
            </a:r>
          </a:p>
          <a:p>
            <a:r>
              <a:rPr lang="en-GB" sz="1900" b="1" dirty="0"/>
              <a:t>2. Works Well with Mixed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dirty="0"/>
              <a:t>Your dataset contains </a:t>
            </a:r>
            <a:r>
              <a:rPr lang="en-GB" sz="1900" b="1" dirty="0"/>
              <a:t>numeric features</a:t>
            </a:r>
            <a:r>
              <a:rPr lang="en-GB" sz="1900" dirty="0"/>
              <a:t> (hour, month, </a:t>
            </a:r>
            <a:r>
              <a:rPr lang="en-GB" sz="1900" dirty="0" err="1"/>
              <a:t>max_capacity</a:t>
            </a:r>
            <a:r>
              <a:rPr lang="en-GB" sz="1900" dirty="0"/>
              <a:t>) and </a:t>
            </a:r>
            <a:r>
              <a:rPr lang="en-GB" sz="1900" b="1" dirty="0"/>
              <a:t>categorical features</a:t>
            </a:r>
            <a:r>
              <a:rPr lang="en-GB" sz="1900" dirty="0"/>
              <a:t> (</a:t>
            </a:r>
            <a:r>
              <a:rPr lang="en-GB" sz="1900" dirty="0" err="1"/>
              <a:t>travel_from</a:t>
            </a:r>
            <a:r>
              <a:rPr lang="en-GB" sz="1900" dirty="0"/>
              <a:t>, </a:t>
            </a:r>
            <a:r>
              <a:rPr lang="en-GB" sz="1900" dirty="0" err="1"/>
              <a:t>car_type</a:t>
            </a:r>
            <a:r>
              <a:rPr lang="en-GB" sz="19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dirty="0"/>
              <a:t>Random Forest can handle both types of data naturally, without heavy assumptions about distributions.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44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77334" y="141668"/>
            <a:ext cx="8596668" cy="51515"/>
          </a:xfrm>
        </p:spPr>
        <p:txBody>
          <a:bodyPr>
            <a:normAutofit fontScale="90000"/>
          </a:bodyPr>
          <a:lstStyle/>
          <a:p>
            <a:r>
              <a:rPr lang="en-GB" sz="1600" dirty="0"/>
              <a:t/>
            </a:r>
            <a:br>
              <a:rPr lang="en-GB" sz="1600" dirty="0"/>
            </a:br>
            <a:endParaRPr lang="en-IN" sz="1600" dirty="0"/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677334" y="540913"/>
            <a:ext cx="8596668" cy="5500449"/>
          </a:xfrm>
        </p:spPr>
        <p:txBody>
          <a:bodyPr>
            <a:normAutofit/>
          </a:bodyPr>
          <a:lstStyle/>
          <a:p>
            <a:r>
              <a:rPr lang="en-GB" b="1" dirty="0"/>
              <a:t>3. Robust to Outliers &amp;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RF uses decision trees, which </a:t>
            </a:r>
            <a:r>
              <a:rPr lang="en-GB" b="1" dirty="0"/>
              <a:t>split data into groups</a:t>
            </a:r>
            <a:r>
              <a:rPr lang="en-GB" dirty="0"/>
              <a:t> and are less affected by extreme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is helpful because real-world booking data can have anomalies (e.g., one-off </a:t>
            </a:r>
            <a:r>
              <a:rPr lang="en-GB" dirty="0" smtClean="0"/>
              <a:t>events</a:t>
            </a:r>
            <a:r>
              <a:rPr lang="en-GB" dirty="0"/>
              <a:t>, special days with very high demand</a:t>
            </a:r>
            <a:r>
              <a:rPr lang="en-GB" dirty="0" smtClean="0"/>
              <a:t>).</a:t>
            </a:r>
          </a:p>
          <a:p>
            <a:r>
              <a:rPr lang="en-GB" b="1" dirty="0"/>
              <a:t>4. Feature Importance Insights</a:t>
            </a:r>
          </a:p>
          <a:p>
            <a:pPr marL="0" indent="0" algn="just">
              <a:buNone/>
            </a:pPr>
            <a:r>
              <a:rPr lang="en-GB" dirty="0" smtClean="0"/>
              <a:t>     RF gives you a </a:t>
            </a:r>
            <a:r>
              <a:rPr lang="en-GB" b="1" dirty="0" smtClean="0"/>
              <a:t>feature importance ranking</a:t>
            </a:r>
            <a:r>
              <a:rPr lang="en-GB" dirty="0" smtClean="0"/>
              <a:t>, which tells you which factors</a:t>
            </a:r>
          </a:p>
          <a:p>
            <a:pPr marL="0" indent="0" algn="just">
              <a:buNone/>
            </a:pPr>
            <a:r>
              <a:rPr lang="en-GB" dirty="0" smtClean="0"/>
              <a:t>      Influence demand the most.</a:t>
            </a:r>
          </a:p>
          <a:p>
            <a:r>
              <a:rPr lang="en-GB" dirty="0" smtClean="0"/>
              <a:t>Example </a:t>
            </a:r>
            <a:r>
              <a:rPr lang="en-GB" dirty="0"/>
              <a:t>from your project:</a:t>
            </a:r>
          </a:p>
          <a:p>
            <a:pPr lvl="1"/>
            <a:r>
              <a:rPr lang="en-GB" sz="1800" b="1" dirty="0" err="1"/>
              <a:t>travel_from</a:t>
            </a:r>
            <a:r>
              <a:rPr lang="en-GB" sz="1800" dirty="0"/>
              <a:t> (boarding location)</a:t>
            </a:r>
          </a:p>
          <a:p>
            <a:pPr lvl="1"/>
            <a:r>
              <a:rPr lang="en-GB" sz="1800" b="1" dirty="0"/>
              <a:t>hour</a:t>
            </a:r>
            <a:r>
              <a:rPr lang="en-GB" sz="1800" dirty="0"/>
              <a:t> (time of day)</a:t>
            </a:r>
          </a:p>
          <a:p>
            <a:pPr lvl="1"/>
            <a:r>
              <a:rPr lang="en-GB" sz="1800" b="1" dirty="0"/>
              <a:t>month</a:t>
            </a:r>
            <a:r>
              <a:rPr lang="en-GB" sz="1800" dirty="0"/>
              <a:t> (seasonal demand patterns)</a:t>
            </a:r>
          </a:p>
          <a:p>
            <a:r>
              <a:rPr lang="en-GB" dirty="0"/>
              <a:t>These insights are </a:t>
            </a:r>
            <a:r>
              <a:rPr lang="en-GB" b="1" dirty="0"/>
              <a:t>very useful for the business team</a:t>
            </a:r>
            <a:r>
              <a:rPr lang="en-GB" dirty="0"/>
              <a:t> to plan resource allocation.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99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Results: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732596"/>
              </p:ext>
            </p:extLst>
          </p:nvPr>
        </p:nvGraphicFramePr>
        <p:xfrm>
          <a:off x="677690" y="1537429"/>
          <a:ext cx="8596312" cy="1262130"/>
        </p:xfrm>
        <a:graphic>
          <a:graphicData uri="http://schemas.openxmlformats.org/drawingml/2006/table">
            <a:tbl>
              <a:tblPr/>
              <a:tblGrid>
                <a:gridCol w="2149078"/>
                <a:gridCol w="2149078"/>
                <a:gridCol w="2149078"/>
                <a:gridCol w="2149078"/>
              </a:tblGrid>
              <a:tr h="631065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1065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3.3125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20.9472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0.7396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36072" y="3232360"/>
            <a:ext cx="63530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chemeClr val="accent1"/>
                </a:solidFill>
              </a:rPr>
              <a:t>Insight: Evening Demand is Lower</a:t>
            </a:r>
            <a:endParaRPr lang="en-IN" sz="3200" dirty="0">
              <a:solidFill>
                <a:schemeClr val="accent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6072" y="4103432"/>
            <a:ext cx="708862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we </a:t>
            </a:r>
            <a:r>
              <a:rPr lang="en-GB" dirty="0" err="1"/>
              <a:t>analyzed</a:t>
            </a:r>
            <a:r>
              <a:rPr lang="en-GB" dirty="0"/>
              <a:t> the rides by hour, we found: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Peak demand around 7 AM</a:t>
            </a:r>
            <a:r>
              <a:rPr lang="en-GB" dirty="0"/>
              <a:t> (commuters traveling to work, school,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Moderate demand during the day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Lower demand in the evening</a:t>
            </a:r>
            <a:r>
              <a:rPr lang="en-GB" dirty="0"/>
              <a:t> — especially after office hours.</a:t>
            </a:r>
          </a:p>
        </p:txBody>
      </p:sp>
    </p:spTree>
    <p:extLst>
      <p:ext uri="{BB962C8B-B14F-4D97-AF65-F5344CB8AC3E}">
        <p14:creationId xmlns:p14="http://schemas.microsoft.com/office/powerpoint/2010/main" val="198113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999" y="236113"/>
            <a:ext cx="8596668" cy="53662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Possible Reason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93999" y="1022991"/>
            <a:ext cx="846142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Congestion: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Evening traffic in many cities is very heavy, discouraging passengers from booking rides.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Commuter Behavior: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passengers prefer earlier trips to avoid getting stuck in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5666" y="3106389"/>
            <a:ext cx="55964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GB" sz="3200" b="1" dirty="0">
                <a:solidFill>
                  <a:schemeClr val="accent1"/>
                </a:solidFill>
              </a:rPr>
              <a:t>Business Recommendation</a:t>
            </a:r>
            <a:endParaRPr lang="en-GB" sz="3200" b="1" dirty="0">
              <a:solidFill>
                <a:schemeClr val="accent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999" y="4020236"/>
            <a:ext cx="84614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Allocate </a:t>
            </a:r>
            <a:r>
              <a:rPr lang="en-GB" b="1" dirty="0"/>
              <a:t>fewer vehicles</a:t>
            </a:r>
            <a:r>
              <a:rPr lang="en-GB" dirty="0"/>
              <a:t> during evening hours to avoid underutilization</a:t>
            </a:r>
            <a:r>
              <a:rPr lang="en-GB" dirty="0" smtClean="0"/>
              <a:t>.</a:t>
            </a:r>
          </a:p>
          <a:p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Use </a:t>
            </a:r>
            <a:r>
              <a:rPr lang="en-GB" dirty="0"/>
              <a:t>this insight to </a:t>
            </a:r>
            <a:r>
              <a:rPr lang="en-GB" b="1" dirty="0"/>
              <a:t>adjust schedule dynamically</a:t>
            </a:r>
            <a:r>
              <a:rPr lang="en-GB" dirty="0"/>
              <a:t> — increase vehicles in morning peak hours and reduce them in low-demand evening hours.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879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108</TotalTime>
  <Words>607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 Unicode MS</vt:lpstr>
      <vt:lpstr>Arial</vt:lpstr>
      <vt:lpstr>Calibri</vt:lpstr>
      <vt:lpstr>Symbol</vt:lpstr>
      <vt:lpstr>Times New Roman</vt:lpstr>
      <vt:lpstr>Trebuchet MS</vt:lpstr>
      <vt:lpstr>Wingdings 3</vt:lpstr>
      <vt:lpstr>Facet</vt:lpstr>
      <vt:lpstr>Data Science Major Project</vt:lpstr>
      <vt:lpstr>Objective:</vt:lpstr>
      <vt:lpstr>Dataset:</vt:lpstr>
      <vt:lpstr>Feature Engineering:</vt:lpstr>
      <vt:lpstr>Data Visualization: </vt:lpstr>
      <vt:lpstr> </vt:lpstr>
      <vt:lpstr>Model Used:Random Forest Regressor </vt:lpstr>
      <vt:lpstr> </vt:lpstr>
      <vt:lpstr>Key Results:</vt:lpstr>
      <vt:lpstr>Possible Reason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Major Project</dc:title>
  <dc:creator>yy</dc:creator>
  <cp:lastModifiedBy>yy</cp:lastModifiedBy>
  <cp:revision>10</cp:revision>
  <dcterms:created xsi:type="dcterms:W3CDTF">2025-09-15T12:12:30Z</dcterms:created>
  <dcterms:modified xsi:type="dcterms:W3CDTF">2025-09-15T14:00:36Z</dcterms:modified>
</cp:coreProperties>
</file>